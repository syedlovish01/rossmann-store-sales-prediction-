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Actual vs. Predicted Daily Sales by Store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vs Predicted (sample stores – avg daily sales €)</c:v>
                </c:pt>
              </c:strCache>
            </c:strRef>
          </c:tx>
          <c:spPr bwMode="auto">
            <a:prstGeom prst="rect">
              <a:avLst/>
            </a:prstGeom>
            <a:solidFill>
              <a:srgbClr val="1E2D5F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Store A</c:v>
                  </c:pt>
                  <c:pt idx="1">
                    <c:v>Store B</c:v>
                  </c:pt>
                  <c:pt idx="2">
                    <c:v>Store C</c:v>
                  </c:pt>
                  <c:pt idx="3">
                    <c:v>Store D</c:v>
                  </c:pt>
                  <c:pt idx="4">
                    <c:v>Store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8420</c:v>
                </c:pt>
                <c:pt idx="1">
                  <c:v>6130</c:v>
                </c:pt>
                <c:pt idx="2">
                  <c:v>11250</c:v>
                </c:pt>
                <c:pt idx="3">
                  <c:v>5700</c:v>
                </c:pt>
                <c:pt idx="4">
                  <c:v>9870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</c:v>
                </c:pt>
              </c:strCache>
            </c:strRef>
          </c:tx>
          <c:spPr bwMode="auto">
            <a:prstGeom prst="rect">
              <a:avLst/>
            </a:prstGeom>
            <a:solidFill>
              <a:srgbClr val="2563EB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Store A</c:v>
                  </c:pt>
                  <c:pt idx="1">
                    <c:v>Store B</c:v>
                  </c:pt>
                  <c:pt idx="2">
                    <c:v>Store C</c:v>
                  </c:pt>
                  <c:pt idx="3">
                    <c:v>Store D</c:v>
                  </c:pt>
                  <c:pt idx="4">
                    <c:v>Store 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7680</c:v>
                </c:pt>
                <c:pt idx="1">
                  <c:v>5890</c:v>
                </c:pt>
                <c:pt idx="2">
                  <c:v>10440</c:v>
                </c:pt>
                <c:pt idx="3">
                  <c:v>6180</c:v>
                </c:pt>
                <c:pt idx="4">
                  <c:v>9120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8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0"/>
  </c:chart>
  <c:spPr bwMode="auto">
    <a:xfrm rot="0">
      <a:off x="365760" y="3246120"/>
      <a:ext cx="8412480" cy="169164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Indicative Impact Areas (€M / year)</a:t>
            </a:r>
            <a:endParaRPr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Annual Savings (€M) per Category</c:v>
                </c:pt>
              </c:strCache>
            </c:strRef>
          </c:tx>
          <c:spPr bwMode="auto">
            <a:prstGeom prst="rect">
              <a:avLst/>
            </a:prstGeom>
            <a:solidFill>
              <a:srgbClr val="1E2D5F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>Inventory
Optimisation</c:v>
                  </c:pt>
                  <c:pt idx="1">
                    <c:v>Reduced
Overstocking</c:v>
                  </c:pt>
                  <c:pt idx="2">
                    <c:v>Promotion
Planning</c:v>
                  </c:pt>
                  <c:pt idx="3">
                    <c:v>Staff
Scheduling</c:v>
                  </c:pt>
                  <c:pt idx="4">
                    <c:v>Lost Sales
Recovery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2.8</c:v>
                </c:pt>
                <c:pt idx="2">
                  <c:v>1.9</c:v>
                </c:pt>
                <c:pt idx="3">
                  <c:v>1.5</c:v>
                </c:pt>
                <c:pt idx="4">
                  <c:v>3.1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000" b="0" i="0" u="none" strike="noStrike">
                  <a:solidFill>
                    <a:srgbClr val="FFFFFF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365760" y="1005840"/>
      <a:ext cx="5029200" cy="324612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178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704257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9014007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128980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8755111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87973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333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6861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7909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1507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28536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508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892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2871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4038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077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2645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2076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8631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7489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4756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0293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5084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3388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086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3738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750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6724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9944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84940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161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59519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3329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888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428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1304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2D5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329083" name="Shape 0"/>
          <p:cNvSpPr/>
          <p:nvPr/>
        </p:nvSpPr>
        <p:spPr bwMode="auto"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5412460" name="Shape 1"/>
          <p:cNvSpPr/>
          <p:nvPr/>
        </p:nvSpPr>
        <p:spPr bwMode="auto">
          <a:xfrm>
            <a:off x="7498080" y="3200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52391908" name="Shape 2"/>
          <p:cNvSpPr/>
          <p:nvPr/>
        </p:nvSpPr>
        <p:spPr bwMode="auto">
          <a:xfrm>
            <a:off x="7498080" y="5760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3691367" name="Shape 3"/>
          <p:cNvSpPr/>
          <p:nvPr/>
        </p:nvSpPr>
        <p:spPr bwMode="auto">
          <a:xfrm>
            <a:off x="7498080" y="83210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023401" name="Shape 4"/>
          <p:cNvSpPr/>
          <p:nvPr/>
        </p:nvSpPr>
        <p:spPr bwMode="auto">
          <a:xfrm>
            <a:off x="7498080" y="108813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62776996" name="Shape 5"/>
          <p:cNvSpPr/>
          <p:nvPr/>
        </p:nvSpPr>
        <p:spPr bwMode="auto">
          <a:xfrm>
            <a:off x="7754112" y="3200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54617774" name="Shape 6"/>
          <p:cNvSpPr/>
          <p:nvPr/>
        </p:nvSpPr>
        <p:spPr bwMode="auto">
          <a:xfrm>
            <a:off x="7754112" y="5760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50086492" name="Shape 7"/>
          <p:cNvSpPr/>
          <p:nvPr/>
        </p:nvSpPr>
        <p:spPr bwMode="auto">
          <a:xfrm>
            <a:off x="7754112" y="83210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35797763" name="Shape 8"/>
          <p:cNvSpPr/>
          <p:nvPr/>
        </p:nvSpPr>
        <p:spPr bwMode="auto">
          <a:xfrm>
            <a:off x="7754112" y="108813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70511568" name="Shape 9"/>
          <p:cNvSpPr/>
          <p:nvPr/>
        </p:nvSpPr>
        <p:spPr bwMode="auto">
          <a:xfrm>
            <a:off x="8010144" y="3200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65357506" name="Shape 10"/>
          <p:cNvSpPr/>
          <p:nvPr/>
        </p:nvSpPr>
        <p:spPr bwMode="auto">
          <a:xfrm>
            <a:off x="8010144" y="5760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06286567" name="Shape 11"/>
          <p:cNvSpPr/>
          <p:nvPr/>
        </p:nvSpPr>
        <p:spPr bwMode="auto">
          <a:xfrm>
            <a:off x="8010144" y="83210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84079676" name="Shape 12"/>
          <p:cNvSpPr/>
          <p:nvPr/>
        </p:nvSpPr>
        <p:spPr bwMode="auto">
          <a:xfrm>
            <a:off x="8010144" y="108813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44967283" name="Shape 13"/>
          <p:cNvSpPr/>
          <p:nvPr/>
        </p:nvSpPr>
        <p:spPr bwMode="auto">
          <a:xfrm>
            <a:off x="8266176" y="3200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95268036" name="Shape 14"/>
          <p:cNvSpPr/>
          <p:nvPr/>
        </p:nvSpPr>
        <p:spPr bwMode="auto">
          <a:xfrm>
            <a:off x="8266176" y="5760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2104353" name="Shape 15"/>
          <p:cNvSpPr/>
          <p:nvPr/>
        </p:nvSpPr>
        <p:spPr bwMode="auto">
          <a:xfrm>
            <a:off x="8266176" y="83210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68256678" name="Shape 16"/>
          <p:cNvSpPr/>
          <p:nvPr/>
        </p:nvSpPr>
        <p:spPr bwMode="auto">
          <a:xfrm>
            <a:off x="8266176" y="108813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74324249" name="Shape 17"/>
          <p:cNvSpPr/>
          <p:nvPr/>
        </p:nvSpPr>
        <p:spPr bwMode="auto">
          <a:xfrm>
            <a:off x="8522208" y="3200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4725689" name="Shape 18"/>
          <p:cNvSpPr/>
          <p:nvPr/>
        </p:nvSpPr>
        <p:spPr bwMode="auto">
          <a:xfrm>
            <a:off x="8522208" y="5760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0352866" name="Shape 19"/>
          <p:cNvSpPr/>
          <p:nvPr/>
        </p:nvSpPr>
        <p:spPr bwMode="auto">
          <a:xfrm>
            <a:off x="8522208" y="83210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5598966" name="Shape 20"/>
          <p:cNvSpPr/>
          <p:nvPr/>
        </p:nvSpPr>
        <p:spPr bwMode="auto">
          <a:xfrm>
            <a:off x="8522208" y="108813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66942651" name="Shape 21"/>
          <p:cNvSpPr/>
          <p:nvPr/>
        </p:nvSpPr>
        <p:spPr bwMode="auto">
          <a:xfrm>
            <a:off x="8778240" y="3200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73233415" name="Shape 22"/>
          <p:cNvSpPr/>
          <p:nvPr/>
        </p:nvSpPr>
        <p:spPr bwMode="auto">
          <a:xfrm>
            <a:off x="8778240" y="5760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12077657" name="Shape 23"/>
          <p:cNvSpPr/>
          <p:nvPr/>
        </p:nvSpPr>
        <p:spPr bwMode="auto">
          <a:xfrm>
            <a:off x="8778240" y="83210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06031144" name="Shape 24"/>
          <p:cNvSpPr/>
          <p:nvPr/>
        </p:nvSpPr>
        <p:spPr bwMode="auto">
          <a:xfrm>
            <a:off x="8778240" y="108813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32759304" name="Text 25"/>
          <p:cNvSpPr/>
          <p:nvPr/>
        </p:nvSpPr>
        <p:spPr bwMode="auto">
          <a:xfrm>
            <a:off x="45720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 spc="300">
                <a:solidFill>
                  <a:srgbClr val="93C5FD"/>
                </a:solidFill>
              </a:rPr>
              <a:t>DATA SCIENCE  ·  BUSINESS ANALYTICS</a:t>
            </a:r>
            <a:endParaRPr lang="en-US" sz="900"/>
          </a:p>
        </p:txBody>
      </p:sp>
      <p:sp>
        <p:nvSpPr>
          <p:cNvPr id="1584396202" name="Text 26"/>
          <p:cNvSpPr/>
          <p:nvPr/>
        </p:nvSpPr>
        <p:spPr bwMode="auto">
          <a:xfrm>
            <a:off x="457200" y="1783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Rossmann Store Sales</a:t>
            </a:r>
            <a:endParaRPr lang="en-US" sz="4400"/>
          </a:p>
        </p:txBody>
      </p:sp>
      <p:sp>
        <p:nvSpPr>
          <p:cNvPr id="181753315" name="Text 27"/>
          <p:cNvSpPr/>
          <p:nvPr/>
        </p:nvSpPr>
        <p:spPr bwMode="auto">
          <a:xfrm>
            <a:off x="457200" y="2606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Forecasting Model</a:t>
            </a:r>
            <a:endParaRPr lang="en-US" sz="4400"/>
          </a:p>
        </p:txBody>
      </p:sp>
      <p:sp>
        <p:nvSpPr>
          <p:cNvPr id="1244499235" name="Text 28"/>
          <p:cNvSpPr/>
          <p:nvPr/>
        </p:nvSpPr>
        <p:spPr bwMode="auto">
          <a:xfrm>
            <a:off x="4572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CADCFC"/>
                </a:solidFill>
              </a:rPr>
              <a:t>Random Forest with Lag Features  ·  Model Performance Review</a:t>
            </a:r>
            <a:endParaRPr lang="en-US" sz="1400"/>
          </a:p>
        </p:txBody>
      </p:sp>
      <p:sp>
        <p:nvSpPr>
          <p:cNvPr id="984115109" name="Shape 29"/>
          <p:cNvSpPr/>
          <p:nvPr/>
        </p:nvSpPr>
        <p:spPr bwMode="auto">
          <a:xfrm>
            <a:off x="0" y="4709160"/>
            <a:ext cx="9144000" cy="43434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50000"/>
              </a:srgbClr>
            </a:solidFill>
            <a:prstDash val="solid"/>
          </a:ln>
        </p:spPr>
      </p:sp>
      <p:sp>
        <p:nvSpPr>
          <p:cNvPr id="1042312611" name="Text 30"/>
          <p:cNvSpPr/>
          <p:nvPr/>
        </p:nvSpPr>
        <p:spPr bwMode="auto"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ADCFC"/>
                </a:solidFill>
              </a:rPr>
              <a:t>Prepared by: Lovish Haider     |     March 2026     |     Rossmann Drug Stores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186017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87211261" name="Text 1"/>
          <p:cNvSpPr/>
          <p:nvPr/>
        </p:nvSpPr>
        <p:spPr bwMode="auto"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800"/>
          </a:p>
        </p:txBody>
      </p:sp>
      <p:sp>
        <p:nvSpPr>
          <p:cNvPr id="4135019" name="Shape 2"/>
          <p:cNvSpPr/>
          <p:nvPr/>
        </p:nvSpPr>
        <p:spPr bwMode="auto">
          <a:xfrm>
            <a:off x="365760" y="1188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864604951" name="Shape 3"/>
          <p:cNvSpPr/>
          <p:nvPr/>
        </p:nvSpPr>
        <p:spPr bwMode="auto">
          <a:xfrm>
            <a:off x="365760" y="1188720"/>
            <a:ext cx="475488" cy="10058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530657147" name="Text 4"/>
          <p:cNvSpPr/>
          <p:nvPr/>
        </p:nvSpPr>
        <p:spPr bwMode="auto">
          <a:xfrm>
            <a:off x="365760" y="118872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01</a:t>
            </a:r>
            <a:endParaRPr lang="en-US" sz="1600"/>
          </a:p>
        </p:txBody>
      </p:sp>
      <p:sp>
        <p:nvSpPr>
          <p:cNvPr id="663686535" name="Text 5"/>
          <p:cNvSpPr/>
          <p:nvPr/>
        </p:nvSpPr>
        <p:spPr bwMode="auto">
          <a:xfrm>
            <a:off x="932688" y="1261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</a:rPr>
              <a:t>Business Problem</a:t>
            </a:r>
            <a:endParaRPr lang="en-US" sz="1300"/>
          </a:p>
        </p:txBody>
      </p:sp>
      <p:sp>
        <p:nvSpPr>
          <p:cNvPr id="2121398012" name="Text 6"/>
          <p:cNvSpPr/>
          <p:nvPr/>
        </p:nvSpPr>
        <p:spPr bwMode="auto">
          <a:xfrm>
            <a:off x="932688" y="16642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Why accurate sales forecasting matters for Rossmann</a:t>
            </a:r>
            <a:endParaRPr lang="en-US" sz="1000"/>
          </a:p>
        </p:txBody>
      </p:sp>
      <p:sp>
        <p:nvSpPr>
          <p:cNvPr id="1813336698" name="Shape 7"/>
          <p:cNvSpPr/>
          <p:nvPr/>
        </p:nvSpPr>
        <p:spPr bwMode="auto">
          <a:xfrm>
            <a:off x="365760" y="2423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81166863" name="Shape 8"/>
          <p:cNvSpPr/>
          <p:nvPr/>
        </p:nvSpPr>
        <p:spPr bwMode="auto">
          <a:xfrm>
            <a:off x="365760" y="2423160"/>
            <a:ext cx="475488" cy="10058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589092014" name="Text 9"/>
          <p:cNvSpPr/>
          <p:nvPr/>
        </p:nvSpPr>
        <p:spPr bwMode="auto">
          <a:xfrm>
            <a:off x="365760" y="242316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02</a:t>
            </a:r>
            <a:endParaRPr lang="en-US" sz="1600"/>
          </a:p>
        </p:txBody>
      </p:sp>
      <p:sp>
        <p:nvSpPr>
          <p:cNvPr id="884963465" name="Text 10"/>
          <p:cNvSpPr/>
          <p:nvPr/>
        </p:nvSpPr>
        <p:spPr bwMode="auto">
          <a:xfrm>
            <a:off x="932688" y="2496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</a:rPr>
              <a:t>Data &amp; Approach</a:t>
            </a:r>
            <a:endParaRPr lang="en-US" sz="1300"/>
          </a:p>
        </p:txBody>
      </p:sp>
      <p:sp>
        <p:nvSpPr>
          <p:cNvPr id="243457636" name="Text 11"/>
          <p:cNvSpPr/>
          <p:nvPr/>
        </p:nvSpPr>
        <p:spPr bwMode="auto">
          <a:xfrm>
            <a:off x="932688" y="28986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Datasets, preprocessing, and feature engineering</a:t>
            </a:r>
            <a:endParaRPr lang="en-US" sz="1000"/>
          </a:p>
        </p:txBody>
      </p:sp>
      <p:sp>
        <p:nvSpPr>
          <p:cNvPr id="488418627" name="Shape 12"/>
          <p:cNvSpPr/>
          <p:nvPr/>
        </p:nvSpPr>
        <p:spPr bwMode="auto">
          <a:xfrm>
            <a:off x="365760" y="3657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31932856" name="Shape 13"/>
          <p:cNvSpPr/>
          <p:nvPr/>
        </p:nvSpPr>
        <p:spPr bwMode="auto">
          <a:xfrm>
            <a:off x="365760" y="3657600"/>
            <a:ext cx="475488" cy="10058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651012405" name="Text 14"/>
          <p:cNvSpPr/>
          <p:nvPr/>
        </p:nvSpPr>
        <p:spPr bwMode="auto">
          <a:xfrm>
            <a:off x="365760" y="36576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03</a:t>
            </a:r>
            <a:endParaRPr lang="en-US" sz="1600"/>
          </a:p>
        </p:txBody>
      </p:sp>
      <p:sp>
        <p:nvSpPr>
          <p:cNvPr id="1807534271" name="Text 15"/>
          <p:cNvSpPr/>
          <p:nvPr/>
        </p:nvSpPr>
        <p:spPr bwMode="auto">
          <a:xfrm>
            <a:off x="932688" y="3730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</a:rPr>
              <a:t>Model Architecture</a:t>
            </a:r>
            <a:endParaRPr lang="en-US" sz="1300"/>
          </a:p>
        </p:txBody>
      </p:sp>
      <p:sp>
        <p:nvSpPr>
          <p:cNvPr id="381295187" name="Text 16"/>
          <p:cNvSpPr/>
          <p:nvPr/>
        </p:nvSpPr>
        <p:spPr bwMode="auto">
          <a:xfrm>
            <a:off x="932688" y="41330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Random Forest with lag features design</a:t>
            </a:r>
            <a:endParaRPr lang="en-US" sz="1000"/>
          </a:p>
        </p:txBody>
      </p:sp>
      <p:sp>
        <p:nvSpPr>
          <p:cNvPr id="1070786882" name="Shape 17"/>
          <p:cNvSpPr/>
          <p:nvPr/>
        </p:nvSpPr>
        <p:spPr bwMode="auto">
          <a:xfrm>
            <a:off x="4754880" y="1188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79678012" name="Shape 18"/>
          <p:cNvSpPr/>
          <p:nvPr/>
        </p:nvSpPr>
        <p:spPr bwMode="auto">
          <a:xfrm>
            <a:off x="4754880" y="1188720"/>
            <a:ext cx="475488" cy="10058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189308982" name="Text 19"/>
          <p:cNvSpPr/>
          <p:nvPr/>
        </p:nvSpPr>
        <p:spPr bwMode="auto">
          <a:xfrm>
            <a:off x="4754880" y="118872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04</a:t>
            </a:r>
            <a:endParaRPr lang="en-US" sz="1600"/>
          </a:p>
        </p:txBody>
      </p:sp>
      <p:sp>
        <p:nvSpPr>
          <p:cNvPr id="27900048" name="Text 20"/>
          <p:cNvSpPr/>
          <p:nvPr/>
        </p:nvSpPr>
        <p:spPr bwMode="auto">
          <a:xfrm>
            <a:off x="5321808" y="1261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</a:rPr>
              <a:t>Model Performance</a:t>
            </a:r>
            <a:endParaRPr lang="en-US" sz="1300"/>
          </a:p>
        </p:txBody>
      </p:sp>
      <p:sp>
        <p:nvSpPr>
          <p:cNvPr id="770943356" name="Text 21"/>
          <p:cNvSpPr/>
          <p:nvPr/>
        </p:nvSpPr>
        <p:spPr bwMode="auto">
          <a:xfrm>
            <a:off x="5321808" y="16642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MAE 866 | R² 0.83 – key metrics explained</a:t>
            </a:r>
            <a:endParaRPr lang="en-US" sz="1000"/>
          </a:p>
        </p:txBody>
      </p:sp>
      <p:sp>
        <p:nvSpPr>
          <p:cNvPr id="3984507" name="Shape 22"/>
          <p:cNvSpPr/>
          <p:nvPr/>
        </p:nvSpPr>
        <p:spPr bwMode="auto">
          <a:xfrm>
            <a:off x="4754880" y="2423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86188167" name="Shape 23"/>
          <p:cNvSpPr/>
          <p:nvPr/>
        </p:nvSpPr>
        <p:spPr bwMode="auto">
          <a:xfrm>
            <a:off x="4754880" y="2423160"/>
            <a:ext cx="475488" cy="10058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630117275" name="Text 24"/>
          <p:cNvSpPr/>
          <p:nvPr/>
        </p:nvSpPr>
        <p:spPr bwMode="auto">
          <a:xfrm>
            <a:off x="4754880" y="242316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05</a:t>
            </a:r>
            <a:endParaRPr lang="en-US" sz="1600"/>
          </a:p>
        </p:txBody>
      </p:sp>
      <p:sp>
        <p:nvSpPr>
          <p:cNvPr id="1394171418" name="Text 25"/>
          <p:cNvSpPr/>
          <p:nvPr/>
        </p:nvSpPr>
        <p:spPr bwMode="auto">
          <a:xfrm>
            <a:off x="5321808" y="2496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</a:rPr>
              <a:t>Business Impact</a:t>
            </a:r>
            <a:endParaRPr lang="en-US" sz="1300"/>
          </a:p>
        </p:txBody>
      </p:sp>
      <p:sp>
        <p:nvSpPr>
          <p:cNvPr id="471256554" name="Text 26"/>
          <p:cNvSpPr/>
          <p:nvPr/>
        </p:nvSpPr>
        <p:spPr bwMode="auto">
          <a:xfrm>
            <a:off x="5321808" y="28986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Operational and financial implications</a:t>
            </a:r>
            <a:endParaRPr lang="en-US" sz="1000"/>
          </a:p>
        </p:txBody>
      </p:sp>
      <p:sp>
        <p:nvSpPr>
          <p:cNvPr id="1061772741" name="Shape 27"/>
          <p:cNvSpPr/>
          <p:nvPr/>
        </p:nvSpPr>
        <p:spPr bwMode="auto">
          <a:xfrm>
            <a:off x="4754880" y="3657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22816776" name="Shape 28"/>
          <p:cNvSpPr/>
          <p:nvPr/>
        </p:nvSpPr>
        <p:spPr bwMode="auto">
          <a:xfrm>
            <a:off x="4754880" y="3657600"/>
            <a:ext cx="475488" cy="10058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181899598" name="Text 29"/>
          <p:cNvSpPr/>
          <p:nvPr/>
        </p:nvSpPr>
        <p:spPr bwMode="auto">
          <a:xfrm>
            <a:off x="4754880" y="36576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06</a:t>
            </a:r>
            <a:endParaRPr lang="en-US" sz="1600"/>
          </a:p>
        </p:txBody>
      </p:sp>
      <p:sp>
        <p:nvSpPr>
          <p:cNvPr id="979302139" name="Text 30"/>
          <p:cNvSpPr/>
          <p:nvPr/>
        </p:nvSpPr>
        <p:spPr bwMode="auto">
          <a:xfrm>
            <a:off x="5321808" y="3730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</a:rPr>
              <a:t>Next Steps</a:t>
            </a:r>
            <a:endParaRPr lang="en-US" sz="1300"/>
          </a:p>
        </p:txBody>
      </p:sp>
      <p:sp>
        <p:nvSpPr>
          <p:cNvPr id="1496920658" name="Text 31"/>
          <p:cNvSpPr/>
          <p:nvPr/>
        </p:nvSpPr>
        <p:spPr bwMode="auto">
          <a:xfrm>
            <a:off x="5321808" y="41330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Improvements and roadmap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952202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725461453" name="Text 1"/>
          <p:cNvSpPr/>
          <p:nvPr/>
        </p:nvSpPr>
        <p:spPr bwMode="auto"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Business Problem</a:t>
            </a:r>
            <a:endParaRPr lang="en-US" sz="2800"/>
          </a:p>
        </p:txBody>
      </p:sp>
      <p:sp>
        <p:nvSpPr>
          <p:cNvPr id="1864549734" name="Shape 2"/>
          <p:cNvSpPr/>
          <p:nvPr/>
        </p:nvSpPr>
        <p:spPr bwMode="auto">
          <a:xfrm>
            <a:off x="365760" y="1051560"/>
            <a:ext cx="4846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00227879" name="Shape 3"/>
          <p:cNvSpPr/>
          <p:nvPr/>
        </p:nvSpPr>
        <p:spPr bwMode="auto">
          <a:xfrm>
            <a:off x="365760" y="105156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3708538" name="Text 4"/>
          <p:cNvSpPr/>
          <p:nvPr/>
        </p:nvSpPr>
        <p:spPr bwMode="auto">
          <a:xfrm>
            <a:off x="548640" y="11064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563EB"/>
                </a:solidFill>
              </a:rPr>
              <a:t>Stores</a:t>
            </a:r>
            <a:endParaRPr lang="en-US" sz="1200"/>
          </a:p>
        </p:txBody>
      </p:sp>
      <p:sp>
        <p:nvSpPr>
          <p:cNvPr id="1234905118" name="Text 5"/>
          <p:cNvSpPr/>
          <p:nvPr/>
        </p:nvSpPr>
        <p:spPr bwMode="auto">
          <a:xfrm>
            <a:off x="54864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Rossmann operates over +3,000 stores across Europe needing individualised demand signals.</a:t>
            </a:r>
            <a:endParaRPr lang="en-US" sz="1000"/>
          </a:p>
        </p:txBody>
      </p:sp>
      <p:sp>
        <p:nvSpPr>
          <p:cNvPr id="2026066230" name="Shape 6"/>
          <p:cNvSpPr/>
          <p:nvPr/>
        </p:nvSpPr>
        <p:spPr bwMode="auto">
          <a:xfrm>
            <a:off x="365760" y="2011680"/>
            <a:ext cx="4846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679131584" name="Shape 7"/>
          <p:cNvSpPr/>
          <p:nvPr/>
        </p:nvSpPr>
        <p:spPr bwMode="auto">
          <a:xfrm>
            <a:off x="365760" y="201168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59472334" name="Text 8"/>
          <p:cNvSpPr/>
          <p:nvPr/>
        </p:nvSpPr>
        <p:spPr bwMode="auto">
          <a:xfrm>
            <a:off x="548640" y="20665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563EB"/>
                </a:solidFill>
              </a:rPr>
              <a:t>7-Week Horizon</a:t>
            </a:r>
            <a:endParaRPr lang="en-US" sz="1200"/>
          </a:p>
        </p:txBody>
      </p:sp>
      <p:sp>
        <p:nvSpPr>
          <p:cNvPr id="95631202" name="Text 9"/>
          <p:cNvSpPr/>
          <p:nvPr/>
        </p:nvSpPr>
        <p:spPr bwMode="auto">
          <a:xfrm>
            <a:off x="548640" y="23591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Managers require 6-week ahead forecasts to plan staffing and inventory cycles.</a:t>
            </a:r>
            <a:endParaRPr lang="en-US" sz="1000"/>
          </a:p>
        </p:txBody>
      </p:sp>
      <p:sp>
        <p:nvSpPr>
          <p:cNvPr id="1546959135" name="Shape 10"/>
          <p:cNvSpPr/>
          <p:nvPr/>
        </p:nvSpPr>
        <p:spPr bwMode="auto">
          <a:xfrm>
            <a:off x="365760" y="2971800"/>
            <a:ext cx="4846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30016729" name="Shape 11"/>
          <p:cNvSpPr/>
          <p:nvPr/>
        </p:nvSpPr>
        <p:spPr bwMode="auto">
          <a:xfrm>
            <a:off x="365760" y="297180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21264615" name="Text 12"/>
          <p:cNvSpPr/>
          <p:nvPr/>
        </p:nvSpPr>
        <p:spPr bwMode="auto">
          <a:xfrm>
            <a:off x="548640" y="3026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563EB"/>
                </a:solidFill>
              </a:rPr>
              <a:t>Complex Drivers</a:t>
            </a:r>
            <a:endParaRPr lang="en-US" sz="1200"/>
          </a:p>
        </p:txBody>
      </p:sp>
      <p:sp>
        <p:nvSpPr>
          <p:cNvPr id="1470083456" name="Text 13"/>
          <p:cNvSpPr/>
          <p:nvPr/>
        </p:nvSpPr>
        <p:spPr bwMode="auto">
          <a:xfrm>
            <a:off x="548640" y="33192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Sales depend on promotions, school/state holidays, competition proximity, and seasonality.</a:t>
            </a:r>
            <a:endParaRPr lang="en-US" sz="1000"/>
          </a:p>
        </p:txBody>
      </p:sp>
      <p:sp>
        <p:nvSpPr>
          <p:cNvPr id="2020789459" name="Shape 14"/>
          <p:cNvSpPr/>
          <p:nvPr/>
        </p:nvSpPr>
        <p:spPr bwMode="auto">
          <a:xfrm>
            <a:off x="365760" y="3931920"/>
            <a:ext cx="4846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47507174" name="Shape 15"/>
          <p:cNvSpPr/>
          <p:nvPr/>
        </p:nvSpPr>
        <p:spPr bwMode="auto">
          <a:xfrm>
            <a:off x="365760" y="393192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69551418" name="Text 16"/>
          <p:cNvSpPr/>
          <p:nvPr/>
        </p:nvSpPr>
        <p:spPr bwMode="auto">
          <a:xfrm>
            <a:off x="548640" y="3986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563EB"/>
                </a:solidFill>
              </a:rPr>
              <a:t>Cost of Errors</a:t>
            </a:r>
            <a:endParaRPr lang="en-US" sz="1200"/>
          </a:p>
        </p:txBody>
      </p:sp>
      <p:sp>
        <p:nvSpPr>
          <p:cNvPr id="792025721" name="Text 17"/>
          <p:cNvSpPr/>
          <p:nvPr/>
        </p:nvSpPr>
        <p:spPr bwMode="auto">
          <a:xfrm>
            <a:off x="548640" y="4279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Over-stocking raises holding costs; under-stocking loses revenue and customer loyalty.</a:t>
            </a:r>
            <a:endParaRPr lang="en-US" sz="1000"/>
          </a:p>
        </p:txBody>
      </p:sp>
      <p:sp>
        <p:nvSpPr>
          <p:cNvPr id="543754266" name="Shape 18"/>
          <p:cNvSpPr/>
          <p:nvPr/>
        </p:nvSpPr>
        <p:spPr bwMode="auto">
          <a:xfrm>
            <a:off x="5669280" y="1097280"/>
            <a:ext cx="3017519" cy="10058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5506809" name="Text 19"/>
          <p:cNvSpPr/>
          <p:nvPr/>
        </p:nvSpPr>
        <p:spPr bwMode="auto">
          <a:xfrm>
            <a:off x="5669280" y="1188720"/>
            <a:ext cx="30175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59E0B"/>
                </a:solidFill>
              </a:rPr>
              <a:t>&gt;3M</a:t>
            </a:r>
            <a:endParaRPr lang="en-US" sz="3600"/>
          </a:p>
        </p:txBody>
      </p:sp>
      <p:sp>
        <p:nvSpPr>
          <p:cNvPr id="2046865351" name="Text 20"/>
          <p:cNvSpPr/>
          <p:nvPr/>
        </p:nvSpPr>
        <p:spPr bwMode="auto">
          <a:xfrm>
            <a:off x="5669280" y="1691640"/>
            <a:ext cx="3017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3C5FD"/>
                </a:solidFill>
              </a:rPr>
              <a:t>Training records</a:t>
            </a:r>
            <a:endParaRPr lang="en-US" sz="1100"/>
          </a:p>
        </p:txBody>
      </p:sp>
      <p:sp>
        <p:nvSpPr>
          <p:cNvPr id="1139206666" name="Shape 21"/>
          <p:cNvSpPr/>
          <p:nvPr/>
        </p:nvSpPr>
        <p:spPr bwMode="auto">
          <a:xfrm>
            <a:off x="5669280" y="2331720"/>
            <a:ext cx="3017519" cy="10058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526411446" name="Text 22"/>
          <p:cNvSpPr/>
          <p:nvPr/>
        </p:nvSpPr>
        <p:spPr bwMode="auto">
          <a:xfrm>
            <a:off x="5669280" y="2423160"/>
            <a:ext cx="30175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59E0B"/>
                </a:solidFill>
              </a:rPr>
              <a:t>+3000</a:t>
            </a:r>
            <a:endParaRPr lang="en-US" sz="3600"/>
          </a:p>
        </p:txBody>
      </p:sp>
      <p:sp>
        <p:nvSpPr>
          <p:cNvPr id="2006621296" name="Text 23"/>
          <p:cNvSpPr/>
          <p:nvPr/>
        </p:nvSpPr>
        <p:spPr bwMode="auto">
          <a:xfrm>
            <a:off x="5669280" y="2926080"/>
            <a:ext cx="3017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3C5FD"/>
                </a:solidFill>
              </a:rPr>
              <a:t>Unique stores</a:t>
            </a:r>
            <a:endParaRPr lang="en-US" sz="1100"/>
          </a:p>
        </p:txBody>
      </p:sp>
      <p:sp>
        <p:nvSpPr>
          <p:cNvPr id="383311038" name="Shape 24"/>
          <p:cNvSpPr/>
          <p:nvPr/>
        </p:nvSpPr>
        <p:spPr bwMode="auto">
          <a:xfrm>
            <a:off x="5669280" y="3566160"/>
            <a:ext cx="3017519" cy="10058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17475618" name="Text 25"/>
          <p:cNvSpPr/>
          <p:nvPr/>
        </p:nvSpPr>
        <p:spPr bwMode="auto">
          <a:xfrm>
            <a:off x="5669280" y="3657600"/>
            <a:ext cx="30175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59E0B"/>
                </a:solidFill>
              </a:rPr>
              <a:t>~15%</a:t>
            </a:r>
            <a:endParaRPr lang="en-US" sz="3600"/>
          </a:p>
        </p:txBody>
      </p:sp>
      <p:sp>
        <p:nvSpPr>
          <p:cNvPr id="1563051193" name="Text 26"/>
          <p:cNvSpPr/>
          <p:nvPr/>
        </p:nvSpPr>
        <p:spPr bwMode="auto">
          <a:xfrm>
            <a:off x="5669280" y="4160519"/>
            <a:ext cx="3017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3C5FD"/>
                </a:solidFill>
              </a:rPr>
              <a:t>Avg. sales uplift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93C5FD"/>
                </a:solidFill>
              </a:rPr>
              <a:t>from promotions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966203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762779511" name="Text 1"/>
          <p:cNvSpPr/>
          <p:nvPr/>
        </p:nvSpPr>
        <p:spPr bwMode="auto"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Data &amp; Feature Engineering</a:t>
            </a:r>
            <a:endParaRPr lang="en-US" sz="2800"/>
          </a:p>
        </p:txBody>
      </p:sp>
      <p:sp>
        <p:nvSpPr>
          <p:cNvPr id="1453073750" name="Shape 2"/>
          <p:cNvSpPr/>
          <p:nvPr/>
        </p:nvSpPr>
        <p:spPr bwMode="auto">
          <a:xfrm>
            <a:off x="457200" y="1097280"/>
            <a:ext cx="246888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658855501" name="Text 3"/>
          <p:cNvSpPr/>
          <p:nvPr/>
        </p:nvSpPr>
        <p:spPr bwMode="auto">
          <a:xfrm>
            <a:off x="457200" y="1170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</a:rPr>
              <a:t>RAW DATA</a:t>
            </a:r>
            <a:endParaRPr lang="en-US" sz="1100"/>
          </a:p>
        </p:txBody>
      </p:sp>
      <p:sp>
        <p:nvSpPr>
          <p:cNvPr id="1383108340" name="Text 4"/>
          <p:cNvSpPr/>
          <p:nvPr/>
        </p:nvSpPr>
        <p:spPr bwMode="auto">
          <a:xfrm>
            <a:off x="54864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1FAE5"/>
                </a:solidFill>
              </a:rPr>
              <a:t>train.csv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D1FAE5"/>
                </a:solidFill>
              </a:rPr>
              <a:t>store.csv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D1FAE5"/>
                </a:solidFill>
              </a:rPr>
              <a:t>Merged on Store ID</a:t>
            </a:r>
            <a:endParaRPr lang="en-US" sz="1000"/>
          </a:p>
        </p:txBody>
      </p:sp>
      <p:sp>
        <p:nvSpPr>
          <p:cNvPr id="1872676383" name="Shape 5"/>
          <p:cNvSpPr/>
          <p:nvPr/>
        </p:nvSpPr>
        <p:spPr bwMode="auto">
          <a:xfrm>
            <a:off x="2926080" y="18288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13819132" name="Text 6"/>
          <p:cNvSpPr/>
          <p:nvPr/>
        </p:nvSpPr>
        <p:spPr bwMode="auto">
          <a:xfrm>
            <a:off x="310896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▶</a:t>
            </a:r>
            <a:endParaRPr lang="en-US" sz="1000"/>
          </a:p>
        </p:txBody>
      </p:sp>
      <p:sp>
        <p:nvSpPr>
          <p:cNvPr id="768167742" name="Shape 7"/>
          <p:cNvSpPr/>
          <p:nvPr/>
        </p:nvSpPr>
        <p:spPr bwMode="auto">
          <a:xfrm>
            <a:off x="3291840" y="1097280"/>
            <a:ext cx="246888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30031445" name="Text 8"/>
          <p:cNvSpPr/>
          <p:nvPr/>
        </p:nvSpPr>
        <p:spPr bwMode="auto">
          <a:xfrm>
            <a:off x="3291840" y="1170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</a:rPr>
              <a:t>PREPROCESSING</a:t>
            </a:r>
            <a:endParaRPr lang="en-US" sz="1100"/>
          </a:p>
        </p:txBody>
      </p:sp>
      <p:sp>
        <p:nvSpPr>
          <p:cNvPr id="510084101" name="Text 9"/>
          <p:cNvSpPr/>
          <p:nvPr/>
        </p:nvSpPr>
        <p:spPr bwMode="auto">
          <a:xfrm>
            <a:off x="338328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1FAE5"/>
                </a:solidFill>
              </a:rPr>
              <a:t>Filter open stores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D1FAE5"/>
                </a:solidFill>
              </a:rPr>
              <a:t>Fill NaN (median / 0)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D1FAE5"/>
                </a:solidFill>
              </a:rPr>
              <a:t>Encode categoricals</a:t>
            </a:r>
            <a:endParaRPr lang="en-US" sz="1000"/>
          </a:p>
        </p:txBody>
      </p:sp>
      <p:sp>
        <p:nvSpPr>
          <p:cNvPr id="573813228" name="Shape 10"/>
          <p:cNvSpPr/>
          <p:nvPr/>
        </p:nvSpPr>
        <p:spPr bwMode="auto">
          <a:xfrm>
            <a:off x="5760720" y="18288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94484614" name="Text 11"/>
          <p:cNvSpPr/>
          <p:nvPr/>
        </p:nvSpPr>
        <p:spPr bwMode="auto">
          <a:xfrm>
            <a:off x="594360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▶</a:t>
            </a:r>
            <a:endParaRPr lang="en-US" sz="1000"/>
          </a:p>
        </p:txBody>
      </p:sp>
      <p:sp>
        <p:nvSpPr>
          <p:cNvPr id="1158071745" name="Shape 12"/>
          <p:cNvSpPr/>
          <p:nvPr/>
        </p:nvSpPr>
        <p:spPr bwMode="auto">
          <a:xfrm>
            <a:off x="6126480" y="1097280"/>
            <a:ext cx="2468880" cy="14630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05444367" name="Text 13"/>
          <p:cNvSpPr/>
          <p:nvPr/>
        </p:nvSpPr>
        <p:spPr bwMode="auto">
          <a:xfrm>
            <a:off x="6126480" y="1170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</a:rPr>
              <a:t>FEATURE ENG.</a:t>
            </a:r>
            <a:endParaRPr lang="en-US" sz="1100"/>
          </a:p>
        </p:txBody>
      </p:sp>
      <p:sp>
        <p:nvSpPr>
          <p:cNvPr id="745843278" name="Text 14"/>
          <p:cNvSpPr/>
          <p:nvPr/>
        </p:nvSpPr>
        <p:spPr bwMode="auto">
          <a:xfrm>
            <a:off x="621792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1FAE5"/>
                </a:solidFill>
              </a:rPr>
              <a:t>Year / Month / Day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D1FAE5"/>
                </a:solidFill>
              </a:rPr>
              <a:t>Lag-1 &amp; Lag-7 Sales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D1FAE5"/>
                </a:solidFill>
              </a:rPr>
              <a:t>Drop leaky columns</a:t>
            </a:r>
            <a:endParaRPr lang="en-US" sz="1000"/>
          </a:p>
        </p:txBody>
      </p:sp>
      <p:sp>
        <p:nvSpPr>
          <p:cNvPr id="216286678" name="Text 15"/>
          <p:cNvSpPr/>
          <p:nvPr/>
        </p:nvSpPr>
        <p:spPr bwMode="auto"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</a:rPr>
              <a:t>Key Features Used in Training</a:t>
            </a:r>
            <a:endParaRPr lang="en-US" sz="1300"/>
          </a:p>
        </p:txBody>
      </p:sp>
      <p:graphicFrame>
        <p:nvGraphicFramePr>
          <p:cNvPr id="155889045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3154680"/>
          <a:ext cx="8229600" cy="178308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926080"/>
                <a:gridCol w="1463040"/>
                <a:gridCol w="3840480"/>
              </a:tblGrid>
              <a:tr h="2971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Feature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D5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D5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Description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D5F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DayOfWeek, Year, Month, Day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Temporal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Extracted from Date column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Lag_1, Lag_7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Lag Feature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Previous 1-day and 7-day sales per store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Promo, StateHoliday, SchoolHoliday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Event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Promotional and holiday indicators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CompetitionDistance, StoreType, Assortment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Store Info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Static store characteristics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Promo2, PromoInterval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Recurring Promo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Loyalty promotion programme data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905792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819869534" name="Text 1"/>
          <p:cNvSpPr/>
          <p:nvPr/>
        </p:nvSpPr>
        <p:spPr bwMode="auto"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Model Architecture</a:t>
            </a:r>
            <a:endParaRPr lang="en-US" sz="2800"/>
          </a:p>
        </p:txBody>
      </p:sp>
      <p:sp>
        <p:nvSpPr>
          <p:cNvPr id="1643783493" name="Shape 2"/>
          <p:cNvSpPr/>
          <p:nvPr/>
        </p:nvSpPr>
        <p:spPr bwMode="auto">
          <a:xfrm>
            <a:off x="3200400" y="1188720"/>
            <a:ext cx="2743200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78547978" name="Text 3"/>
          <p:cNvSpPr/>
          <p:nvPr/>
        </p:nvSpPr>
        <p:spPr bwMode="auto">
          <a:xfrm>
            <a:off x="3200400" y="12984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Random Forest</a:t>
            </a:r>
            <a:endParaRPr lang="en-US" sz="1500"/>
          </a:p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Regressor</a:t>
            </a:r>
            <a:endParaRPr lang="en-US" sz="1500"/>
          </a:p>
        </p:txBody>
      </p:sp>
      <p:sp>
        <p:nvSpPr>
          <p:cNvPr id="2071917859" name="Text 4"/>
          <p:cNvSpPr/>
          <p:nvPr/>
        </p:nvSpPr>
        <p:spPr bwMode="auto">
          <a:xfrm>
            <a:off x="329184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DBEAFE"/>
                </a:solidFill>
              </a:rPr>
              <a:t>n_estimators = 20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DBEAFE"/>
                </a:solidFill>
              </a:rPr>
              <a:t>max_depth = 10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DBEAFE"/>
                </a:solidFill>
              </a:rPr>
              <a:t>random_state = 42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DBEAFE"/>
                </a:solidFill>
              </a:rPr>
              <a:t>n_jobs = -1</a:t>
            </a:r>
            <a:endParaRPr lang="en-US" sz="1000"/>
          </a:p>
        </p:txBody>
      </p:sp>
      <p:sp>
        <p:nvSpPr>
          <p:cNvPr id="2027353452" name="Shape 5"/>
          <p:cNvSpPr/>
          <p:nvPr/>
        </p:nvSpPr>
        <p:spPr bwMode="auto">
          <a:xfrm>
            <a:off x="274320" y="118872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6747043" name="Text 6"/>
          <p:cNvSpPr/>
          <p:nvPr/>
        </p:nvSpPr>
        <p:spPr bwMode="auto">
          <a:xfrm>
            <a:off x="27432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 spc="200">
                <a:solidFill>
                  <a:srgbClr val="64748B"/>
                </a:solidFill>
              </a:rPr>
              <a:t>INPUT FEATURES</a:t>
            </a:r>
            <a:endParaRPr lang="en-US" sz="900"/>
          </a:p>
        </p:txBody>
      </p:sp>
      <p:sp>
        <p:nvSpPr>
          <p:cNvPr id="2084949884" name="Text 7"/>
          <p:cNvSpPr/>
          <p:nvPr/>
        </p:nvSpPr>
        <p:spPr bwMode="auto">
          <a:xfrm>
            <a:off x="411480" y="15819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</a:rPr>
              <a:t>• Temporal (Year/Month/Day)</a:t>
            </a:r>
            <a:endParaRPr lang="en-US" sz="950"/>
          </a:p>
        </p:txBody>
      </p:sp>
      <p:sp>
        <p:nvSpPr>
          <p:cNvPr id="1673360495" name="Text 8"/>
          <p:cNvSpPr/>
          <p:nvPr/>
        </p:nvSpPr>
        <p:spPr bwMode="auto">
          <a:xfrm>
            <a:off x="411480" y="18196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</a:rPr>
              <a:t>• Lag-1 &amp; Lag-7 Sales</a:t>
            </a:r>
            <a:endParaRPr lang="en-US" sz="950"/>
          </a:p>
        </p:txBody>
      </p:sp>
      <p:sp>
        <p:nvSpPr>
          <p:cNvPr id="2144510217" name="Text 9"/>
          <p:cNvSpPr/>
          <p:nvPr/>
        </p:nvSpPr>
        <p:spPr bwMode="auto">
          <a:xfrm>
            <a:off x="41148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</a:rPr>
              <a:t>• Promo &amp; Holiday flags</a:t>
            </a:r>
            <a:endParaRPr lang="en-US" sz="950"/>
          </a:p>
        </p:txBody>
      </p:sp>
      <p:sp>
        <p:nvSpPr>
          <p:cNvPr id="1013240918" name="Text 10"/>
          <p:cNvSpPr/>
          <p:nvPr/>
        </p:nvSpPr>
        <p:spPr bwMode="auto">
          <a:xfrm>
            <a:off x="411480" y="22951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</a:rPr>
              <a:t>• Store metadata</a:t>
            </a:r>
            <a:endParaRPr lang="en-US" sz="950"/>
          </a:p>
        </p:txBody>
      </p:sp>
      <p:sp>
        <p:nvSpPr>
          <p:cNvPr id="1561359529" name="Shape 11"/>
          <p:cNvSpPr/>
          <p:nvPr/>
        </p:nvSpPr>
        <p:spPr bwMode="auto">
          <a:xfrm>
            <a:off x="2743200" y="1892808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92948012" name="Text 12"/>
          <p:cNvSpPr/>
          <p:nvPr/>
        </p:nvSpPr>
        <p:spPr bwMode="auto">
          <a:xfrm>
            <a:off x="3063240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▶</a:t>
            </a:r>
            <a:endParaRPr lang="en-US" sz="1000"/>
          </a:p>
        </p:txBody>
      </p:sp>
      <p:sp>
        <p:nvSpPr>
          <p:cNvPr id="580304457" name="Shape 13"/>
          <p:cNvSpPr/>
          <p:nvPr/>
        </p:nvSpPr>
        <p:spPr bwMode="auto">
          <a:xfrm>
            <a:off x="6400800" y="118872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52874961" name="Text 14"/>
          <p:cNvSpPr/>
          <p:nvPr/>
        </p:nvSpPr>
        <p:spPr bwMode="auto">
          <a:xfrm>
            <a:off x="640080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 spc="200">
                <a:solidFill>
                  <a:srgbClr val="64748B"/>
                </a:solidFill>
              </a:rPr>
              <a:t>OUTPUT</a:t>
            </a:r>
            <a:endParaRPr lang="en-US" sz="900"/>
          </a:p>
        </p:txBody>
      </p:sp>
      <p:sp>
        <p:nvSpPr>
          <p:cNvPr id="869155115" name="Text 15"/>
          <p:cNvSpPr/>
          <p:nvPr/>
        </p:nvSpPr>
        <p:spPr bwMode="auto">
          <a:xfrm>
            <a:off x="6400800" y="15819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</a:rPr>
              <a:t>Predicted Daily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</a:rPr>
              <a:t>Sales (€)</a:t>
            </a:r>
            <a:endParaRPr lang="en-US" sz="1400"/>
          </a:p>
        </p:txBody>
      </p:sp>
      <p:sp>
        <p:nvSpPr>
          <p:cNvPr id="1461591991" name="Text 16"/>
          <p:cNvSpPr/>
          <p:nvPr/>
        </p:nvSpPr>
        <p:spPr bwMode="auto">
          <a:xfrm>
            <a:off x="6400800" y="2130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</a:rPr>
              <a:t>Per store, per day</a:t>
            </a:r>
            <a:endParaRPr lang="en-US" sz="1000"/>
          </a:p>
        </p:txBody>
      </p:sp>
      <p:sp>
        <p:nvSpPr>
          <p:cNvPr id="1094681722" name="Shape 17"/>
          <p:cNvSpPr/>
          <p:nvPr/>
        </p:nvSpPr>
        <p:spPr bwMode="auto">
          <a:xfrm>
            <a:off x="5943600" y="1892808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83268297" name="Text 18"/>
          <p:cNvSpPr/>
          <p:nvPr/>
        </p:nvSpPr>
        <p:spPr bwMode="auto">
          <a:xfrm>
            <a:off x="6263640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▶</a:t>
            </a:r>
            <a:endParaRPr lang="en-US" sz="1000"/>
          </a:p>
        </p:txBody>
      </p:sp>
      <p:sp>
        <p:nvSpPr>
          <p:cNvPr id="475189126" name="Shape 19"/>
          <p:cNvSpPr/>
          <p:nvPr/>
        </p:nvSpPr>
        <p:spPr bwMode="auto">
          <a:xfrm>
            <a:off x="274320" y="2834640"/>
            <a:ext cx="859536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46312437" name="Text 20"/>
          <p:cNvSpPr/>
          <p:nvPr/>
        </p:nvSpPr>
        <p:spPr bwMode="auto">
          <a:xfrm>
            <a:off x="457200" y="28986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D5F"/>
                </a:solidFill>
              </a:rPr>
              <a:t>⏱  Time-Based Train / Test Split  (80% / 20%)</a:t>
            </a:r>
            <a:endParaRPr lang="en-US" sz="1200"/>
          </a:p>
        </p:txBody>
      </p:sp>
      <p:sp>
        <p:nvSpPr>
          <p:cNvPr id="520476624" name="Text 21"/>
          <p:cNvSpPr/>
          <p:nvPr/>
        </p:nvSpPr>
        <p:spPr bwMode="auto">
          <a:xfrm>
            <a:off x="457200" y="3182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Data sorted chronologically. Training on earlier dates, testing on most recent 20% — simulating real-world deployment where future data is unseen.</a:t>
            </a:r>
            <a:endParaRPr lang="en-US" sz="1000"/>
          </a:p>
        </p:txBody>
      </p:sp>
      <p:sp>
        <p:nvSpPr>
          <p:cNvPr id="862212240" name="Shape 22"/>
          <p:cNvSpPr/>
          <p:nvPr/>
        </p:nvSpPr>
        <p:spPr bwMode="auto">
          <a:xfrm>
            <a:off x="3474720" y="3474720"/>
            <a:ext cx="548640" cy="3200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680672654" name="Text 23"/>
          <p:cNvSpPr/>
          <p:nvPr/>
        </p:nvSpPr>
        <p:spPr bwMode="auto">
          <a:xfrm>
            <a:off x="347472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</a:rPr>
              <a:t>Root</a:t>
            </a:r>
            <a:endParaRPr lang="en-US" sz="800"/>
          </a:p>
        </p:txBody>
      </p:sp>
      <p:sp>
        <p:nvSpPr>
          <p:cNvPr id="2128626229" name="Shape 24"/>
          <p:cNvSpPr/>
          <p:nvPr/>
        </p:nvSpPr>
        <p:spPr bwMode="auto">
          <a:xfrm>
            <a:off x="2926080" y="3931920"/>
            <a:ext cx="54864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36738514" name="Shape 25"/>
          <p:cNvSpPr/>
          <p:nvPr/>
        </p:nvSpPr>
        <p:spPr bwMode="auto">
          <a:xfrm>
            <a:off x="4023360" y="3931920"/>
            <a:ext cx="54864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15872345" name="Shape 26"/>
          <p:cNvSpPr/>
          <p:nvPr/>
        </p:nvSpPr>
        <p:spPr bwMode="auto">
          <a:xfrm>
            <a:off x="2651760" y="4361688"/>
            <a:ext cx="502920" cy="2560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20016264" name="Shape 27"/>
          <p:cNvSpPr/>
          <p:nvPr/>
        </p:nvSpPr>
        <p:spPr bwMode="auto">
          <a:xfrm>
            <a:off x="3200400" y="4361688"/>
            <a:ext cx="502920" cy="2560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50783744" name="Shape 28"/>
          <p:cNvSpPr/>
          <p:nvPr/>
        </p:nvSpPr>
        <p:spPr bwMode="auto">
          <a:xfrm>
            <a:off x="3749040" y="4361688"/>
            <a:ext cx="502920" cy="2560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723810" name="Shape 29"/>
          <p:cNvSpPr/>
          <p:nvPr/>
        </p:nvSpPr>
        <p:spPr bwMode="auto">
          <a:xfrm>
            <a:off x="4297680" y="4361688"/>
            <a:ext cx="502920" cy="2560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2165632" name="Text 30"/>
          <p:cNvSpPr/>
          <p:nvPr/>
        </p:nvSpPr>
        <p:spPr bwMode="auto">
          <a:xfrm>
            <a:off x="507492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4748B"/>
                </a:solidFill>
              </a:rPr>
              <a:t>×20 trees  →  averaged prediction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98265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2088606666" name="Text 1"/>
          <p:cNvSpPr/>
          <p:nvPr/>
        </p:nvSpPr>
        <p:spPr bwMode="auto"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Model Performance Results</a:t>
            </a:r>
            <a:endParaRPr lang="en-US" sz="2800"/>
          </a:p>
        </p:txBody>
      </p:sp>
      <p:sp>
        <p:nvSpPr>
          <p:cNvPr id="587572084" name="Shape 2"/>
          <p:cNvSpPr/>
          <p:nvPr/>
        </p:nvSpPr>
        <p:spPr bwMode="auto">
          <a:xfrm>
            <a:off x="365760" y="1051560"/>
            <a:ext cx="4023360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134338885" name="Text 3"/>
          <p:cNvSpPr/>
          <p:nvPr/>
        </p:nvSpPr>
        <p:spPr bwMode="auto">
          <a:xfrm>
            <a:off x="36576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CADCFC"/>
                </a:solidFill>
              </a:rPr>
              <a:t>€</a:t>
            </a:r>
            <a:endParaRPr lang="en-US" sz="1300"/>
          </a:p>
        </p:txBody>
      </p:sp>
      <p:sp>
        <p:nvSpPr>
          <p:cNvPr id="934927323" name="Text 4"/>
          <p:cNvSpPr/>
          <p:nvPr/>
        </p:nvSpPr>
        <p:spPr bwMode="auto">
          <a:xfrm>
            <a:off x="365760" y="1463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000" b="1">
                <a:solidFill>
                  <a:srgbClr val="FFFFFF"/>
                </a:solidFill>
              </a:rPr>
              <a:t>866</a:t>
            </a:r>
            <a:endParaRPr lang="en-US" sz="6000"/>
          </a:p>
        </p:txBody>
      </p:sp>
      <p:sp>
        <p:nvSpPr>
          <p:cNvPr id="2073949008" name="Text 5"/>
          <p:cNvSpPr/>
          <p:nvPr/>
        </p:nvSpPr>
        <p:spPr bwMode="auto">
          <a:xfrm>
            <a:off x="36576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Mean Absolute Error</a:t>
            </a:r>
            <a:endParaRPr lang="en-US" sz="1200"/>
          </a:p>
        </p:txBody>
      </p:sp>
      <p:sp>
        <p:nvSpPr>
          <p:cNvPr id="1507398125" name="Text 6"/>
          <p:cNvSpPr/>
          <p:nvPr/>
        </p:nvSpPr>
        <p:spPr bwMode="auto">
          <a:xfrm>
            <a:off x="457200" y="2743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FFFFFF"/>
                </a:solidFill>
              </a:rPr>
              <a:t>Avg. prediction off by €866/day per store</a:t>
            </a:r>
            <a:endParaRPr lang="en-US" sz="1000"/>
          </a:p>
        </p:txBody>
      </p:sp>
      <p:sp>
        <p:nvSpPr>
          <p:cNvPr id="492143566" name="Shape 7"/>
          <p:cNvSpPr/>
          <p:nvPr/>
        </p:nvSpPr>
        <p:spPr bwMode="auto">
          <a:xfrm>
            <a:off x="4754880" y="1051560"/>
            <a:ext cx="4023360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46523086" name="Text 8"/>
          <p:cNvSpPr/>
          <p:nvPr/>
        </p:nvSpPr>
        <p:spPr bwMode="auto">
          <a:xfrm>
            <a:off x="475488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CADCFC"/>
                </a:solidFill>
              </a:rPr>
              <a:t>R²</a:t>
            </a:r>
            <a:endParaRPr lang="en-US" sz="1300"/>
          </a:p>
        </p:txBody>
      </p:sp>
      <p:sp>
        <p:nvSpPr>
          <p:cNvPr id="1982666023" name="Text 9"/>
          <p:cNvSpPr/>
          <p:nvPr/>
        </p:nvSpPr>
        <p:spPr bwMode="auto">
          <a:xfrm>
            <a:off x="4754880" y="1463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000" b="1">
                <a:solidFill>
                  <a:srgbClr val="FFFFFF"/>
                </a:solidFill>
              </a:rPr>
              <a:t>0.83</a:t>
            </a:r>
            <a:endParaRPr lang="en-US" sz="6000"/>
          </a:p>
        </p:txBody>
      </p:sp>
      <p:sp>
        <p:nvSpPr>
          <p:cNvPr id="2112195685" name="Text 10"/>
          <p:cNvSpPr/>
          <p:nvPr/>
        </p:nvSpPr>
        <p:spPr bwMode="auto">
          <a:xfrm>
            <a:off x="475488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R² Score</a:t>
            </a:r>
            <a:endParaRPr lang="en-US" sz="1200"/>
          </a:p>
        </p:txBody>
      </p:sp>
      <p:sp>
        <p:nvSpPr>
          <p:cNvPr id="364153189" name="Text 11"/>
          <p:cNvSpPr/>
          <p:nvPr/>
        </p:nvSpPr>
        <p:spPr bwMode="auto">
          <a:xfrm>
            <a:off x="4846320" y="2743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FFFFFF"/>
                </a:solidFill>
              </a:rPr>
              <a:t>Model explains 83% of sales variance</a:t>
            </a:r>
            <a:endParaRPr lang="en-US" sz="1000"/>
          </a:p>
        </p:txBody>
      </p:sp>
      <p:graphicFrame>
        <p:nvGraphicFramePr>
          <p:cNvPr id="1949660165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365760" y="3246120"/>
          <a:ext cx="84124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332890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096098663" name="Text 1"/>
          <p:cNvSpPr/>
          <p:nvPr/>
        </p:nvSpPr>
        <p:spPr bwMode="auto"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What the Metrics Mean for the Business</a:t>
            </a:r>
            <a:endParaRPr lang="en-US" sz="2800"/>
          </a:p>
        </p:txBody>
      </p:sp>
      <p:sp>
        <p:nvSpPr>
          <p:cNvPr id="1963448903" name="Shape 2"/>
          <p:cNvSpPr/>
          <p:nvPr/>
        </p:nvSpPr>
        <p:spPr bwMode="auto">
          <a:xfrm>
            <a:off x="320040" y="1005840"/>
            <a:ext cx="411480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7131698" name="Shape 3"/>
          <p:cNvSpPr/>
          <p:nvPr/>
        </p:nvSpPr>
        <p:spPr bwMode="auto">
          <a:xfrm>
            <a:off x="320040" y="1005840"/>
            <a:ext cx="54864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5938777" name="Text 4"/>
          <p:cNvSpPr/>
          <p:nvPr/>
        </p:nvSpPr>
        <p:spPr bwMode="auto"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6A34A"/>
                </a:solidFill>
              </a:rPr>
              <a:t>✅  MAE of €866 – In Context</a:t>
            </a:r>
            <a:endParaRPr lang="en-US" sz="1100"/>
          </a:p>
        </p:txBody>
      </p:sp>
      <p:sp>
        <p:nvSpPr>
          <p:cNvPr id="2145516217" name="Text 5"/>
          <p:cNvSpPr/>
          <p:nvPr/>
        </p:nvSpPr>
        <p:spPr bwMode="auto">
          <a:xfrm>
            <a:off x="457200" y="14630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Average Rossmann store daily sales ~€7,000–€12,000. An €866 error is roughly 7–12% deviation — commercially viable for inventory planning.</a:t>
            </a:r>
            <a:endParaRPr lang="en-US" sz="950"/>
          </a:p>
        </p:txBody>
      </p:sp>
      <p:sp>
        <p:nvSpPr>
          <p:cNvPr id="409745522" name="Shape 6"/>
          <p:cNvSpPr/>
          <p:nvPr/>
        </p:nvSpPr>
        <p:spPr bwMode="auto">
          <a:xfrm>
            <a:off x="4754880" y="1005840"/>
            <a:ext cx="411480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74779626" name="Shape 7"/>
          <p:cNvSpPr/>
          <p:nvPr/>
        </p:nvSpPr>
        <p:spPr bwMode="auto">
          <a:xfrm>
            <a:off x="4754880" y="1005840"/>
            <a:ext cx="54864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44637790" name="Text 8"/>
          <p:cNvSpPr/>
          <p:nvPr/>
        </p:nvSpPr>
        <p:spPr bwMode="auto">
          <a:xfrm>
            <a:off x="4892039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563EB"/>
                </a:solidFill>
              </a:rPr>
              <a:t>✅  R² = 0.83 – Strong Fit</a:t>
            </a:r>
            <a:endParaRPr lang="en-US" sz="1100"/>
          </a:p>
        </p:txBody>
      </p:sp>
      <p:sp>
        <p:nvSpPr>
          <p:cNvPr id="132672661" name="Text 9"/>
          <p:cNvSpPr/>
          <p:nvPr/>
        </p:nvSpPr>
        <p:spPr bwMode="auto">
          <a:xfrm>
            <a:off x="4892039" y="14630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83% variance explained is strong for retail time-series without external data (weather, macro). Industry benchmark is 0.75–0.85 for comparable models.</a:t>
            </a:r>
            <a:endParaRPr lang="en-US" sz="950"/>
          </a:p>
        </p:txBody>
      </p:sp>
      <p:sp>
        <p:nvSpPr>
          <p:cNvPr id="443910830" name="Shape 10"/>
          <p:cNvSpPr/>
          <p:nvPr/>
        </p:nvSpPr>
        <p:spPr bwMode="auto">
          <a:xfrm>
            <a:off x="320040" y="2359152"/>
            <a:ext cx="411480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9249246" name="Shape 11"/>
          <p:cNvSpPr/>
          <p:nvPr/>
        </p:nvSpPr>
        <p:spPr bwMode="auto">
          <a:xfrm>
            <a:off x="320040" y="2359152"/>
            <a:ext cx="54864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92868454" name="Text 12"/>
          <p:cNvSpPr/>
          <p:nvPr/>
        </p:nvSpPr>
        <p:spPr bwMode="auto">
          <a:xfrm>
            <a:off x="457200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D97706"/>
                </a:solidFill>
              </a:rPr>
              <a:t>⚠️  Lag Feature Dependency</a:t>
            </a:r>
            <a:endParaRPr lang="en-US" sz="1100"/>
          </a:p>
        </p:txBody>
      </p:sp>
      <p:sp>
        <p:nvSpPr>
          <p:cNvPr id="1085057622" name="Text 13"/>
          <p:cNvSpPr/>
          <p:nvPr/>
        </p:nvSpPr>
        <p:spPr bwMode="auto">
          <a:xfrm>
            <a:off x="457200" y="281635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Lag-1 and Lag-7 features require yesterday's actual sales at inference time. This adds a data pipeline requirement before production deployment.</a:t>
            </a:r>
            <a:endParaRPr lang="en-US" sz="950"/>
          </a:p>
        </p:txBody>
      </p:sp>
      <p:sp>
        <p:nvSpPr>
          <p:cNvPr id="1625870915" name="Shape 14"/>
          <p:cNvSpPr/>
          <p:nvPr/>
        </p:nvSpPr>
        <p:spPr bwMode="auto">
          <a:xfrm>
            <a:off x="4754880" y="2359152"/>
            <a:ext cx="411480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67180378" name="Shape 15"/>
          <p:cNvSpPr/>
          <p:nvPr/>
        </p:nvSpPr>
        <p:spPr bwMode="auto">
          <a:xfrm>
            <a:off x="4754880" y="2359152"/>
            <a:ext cx="54864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4098250" name="Text 16"/>
          <p:cNvSpPr/>
          <p:nvPr/>
        </p:nvSpPr>
        <p:spPr bwMode="auto">
          <a:xfrm>
            <a:off x="4892039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D97706"/>
                </a:solidFill>
              </a:rPr>
              <a:t>⚠️  Tree Count Tradeoff</a:t>
            </a:r>
            <a:endParaRPr lang="en-US" sz="1100"/>
          </a:p>
        </p:txBody>
      </p:sp>
      <p:sp>
        <p:nvSpPr>
          <p:cNvPr id="1991120179" name="Text 17"/>
          <p:cNvSpPr/>
          <p:nvPr/>
        </p:nvSpPr>
        <p:spPr bwMode="auto">
          <a:xfrm>
            <a:off x="4892039" y="281635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n_estimators=20 is intentionally light for speed. Increasing to 100–200 trees would likely improve R² by 2–5 pp at the cost of ~5× longer training.</a:t>
            </a:r>
            <a:endParaRPr lang="en-US" sz="950"/>
          </a:p>
        </p:txBody>
      </p:sp>
      <p:sp>
        <p:nvSpPr>
          <p:cNvPr id="1656667417" name="Shape 18"/>
          <p:cNvSpPr/>
          <p:nvPr/>
        </p:nvSpPr>
        <p:spPr bwMode="auto">
          <a:xfrm>
            <a:off x="320040" y="3712464"/>
            <a:ext cx="411480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54391690" name="Shape 19"/>
          <p:cNvSpPr/>
          <p:nvPr/>
        </p:nvSpPr>
        <p:spPr bwMode="auto">
          <a:xfrm>
            <a:off x="320040" y="3712464"/>
            <a:ext cx="54864" cy="118872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808069471" name="Text 20"/>
          <p:cNvSpPr/>
          <p:nvPr/>
        </p:nvSpPr>
        <p:spPr bwMode="auto">
          <a:xfrm>
            <a:off x="457200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D5F"/>
                </a:solidFill>
              </a:rPr>
              <a:t>ℹ️  Temporal Integrity</a:t>
            </a:r>
            <a:endParaRPr lang="en-US" sz="1100"/>
          </a:p>
        </p:txBody>
      </p:sp>
      <p:sp>
        <p:nvSpPr>
          <p:cNvPr id="324464428" name="Text 21"/>
          <p:cNvSpPr/>
          <p:nvPr/>
        </p:nvSpPr>
        <p:spPr bwMode="auto">
          <a:xfrm>
            <a:off x="457200" y="416966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Strict time-based split prevents data leakage — the model was never exposed to future data during training, ensuring realistic performance estimates.</a:t>
            </a:r>
            <a:endParaRPr lang="en-US" sz="950"/>
          </a:p>
        </p:txBody>
      </p:sp>
      <p:sp>
        <p:nvSpPr>
          <p:cNvPr id="506967425" name="Shape 22"/>
          <p:cNvSpPr/>
          <p:nvPr/>
        </p:nvSpPr>
        <p:spPr bwMode="auto">
          <a:xfrm>
            <a:off x="4754880" y="3712464"/>
            <a:ext cx="411480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87593191" name="Shape 23"/>
          <p:cNvSpPr/>
          <p:nvPr/>
        </p:nvSpPr>
        <p:spPr bwMode="auto">
          <a:xfrm>
            <a:off x="4754880" y="3712464"/>
            <a:ext cx="54864" cy="118872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891001341" name="Text 24"/>
          <p:cNvSpPr/>
          <p:nvPr/>
        </p:nvSpPr>
        <p:spPr bwMode="auto">
          <a:xfrm>
            <a:off x="4892039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D5F"/>
                </a:solidFill>
              </a:rPr>
              <a:t>ℹ️  Open Stores Only</a:t>
            </a:r>
            <a:endParaRPr lang="en-US" sz="1100"/>
          </a:p>
        </p:txBody>
      </p:sp>
      <p:sp>
        <p:nvSpPr>
          <p:cNvPr id="1006525477" name="Text 25"/>
          <p:cNvSpPr/>
          <p:nvPr/>
        </p:nvSpPr>
        <p:spPr bwMode="auto">
          <a:xfrm>
            <a:off x="4892039" y="416966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Model trained only on open-store days (Open=1). Prediction logic must handle store closure days separately in the scheduling layer.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577311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779484613" name="Text 1"/>
          <p:cNvSpPr/>
          <p:nvPr/>
        </p:nvSpPr>
        <p:spPr bwMode="auto"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Business Impact</a:t>
            </a:r>
            <a:endParaRPr lang="en-US" sz="2800"/>
          </a:p>
        </p:txBody>
      </p:sp>
      <p:graphicFrame>
        <p:nvGraphicFramePr>
          <p:cNvPr id="1743875480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365760" y="1005840"/>
          <a:ext cx="50292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2171949" name="Shape 2"/>
          <p:cNvSpPr/>
          <p:nvPr/>
        </p:nvSpPr>
        <p:spPr bwMode="auto">
          <a:xfrm>
            <a:off x="5669280" y="105156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99821211" name="Text 3"/>
          <p:cNvSpPr/>
          <p:nvPr/>
        </p:nvSpPr>
        <p:spPr bwMode="auto">
          <a:xfrm>
            <a:off x="5715000" y="10881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2563EB"/>
                </a:solidFill>
              </a:rPr>
              <a:t>€13.5M+</a:t>
            </a:r>
            <a:endParaRPr lang="en-US" sz="2200"/>
          </a:p>
        </p:txBody>
      </p:sp>
      <p:sp>
        <p:nvSpPr>
          <p:cNvPr id="84839871" name="Text 4"/>
          <p:cNvSpPr/>
          <p:nvPr/>
        </p:nvSpPr>
        <p:spPr bwMode="auto">
          <a:xfrm>
            <a:off x="5715000" y="1508759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Estimated total annual benefit across 3000+ stores</a:t>
            </a:r>
            <a:endParaRPr lang="en-US" sz="950"/>
          </a:p>
        </p:txBody>
      </p:sp>
      <p:sp>
        <p:nvSpPr>
          <p:cNvPr id="1743668076" name="Shape 5"/>
          <p:cNvSpPr/>
          <p:nvPr/>
        </p:nvSpPr>
        <p:spPr bwMode="auto">
          <a:xfrm>
            <a:off x="5669280" y="205740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33146710" name="Text 6"/>
          <p:cNvSpPr/>
          <p:nvPr/>
        </p:nvSpPr>
        <p:spPr bwMode="auto">
          <a:xfrm>
            <a:off x="5715000" y="2093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2563EB"/>
                </a:solidFill>
              </a:rPr>
              <a:t>~8%</a:t>
            </a:r>
            <a:endParaRPr lang="en-US" sz="2200"/>
          </a:p>
        </p:txBody>
      </p:sp>
      <p:sp>
        <p:nvSpPr>
          <p:cNvPr id="220108350" name="Text 7"/>
          <p:cNvSpPr/>
          <p:nvPr/>
        </p:nvSpPr>
        <p:spPr bwMode="auto">
          <a:xfrm>
            <a:off x="5715000" y="2514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Reduction in excess inventory through better demand signal</a:t>
            </a:r>
            <a:endParaRPr lang="en-US" sz="950"/>
          </a:p>
        </p:txBody>
      </p:sp>
      <p:sp>
        <p:nvSpPr>
          <p:cNvPr id="1536587096" name="Shape 8"/>
          <p:cNvSpPr/>
          <p:nvPr/>
        </p:nvSpPr>
        <p:spPr bwMode="auto">
          <a:xfrm>
            <a:off x="5669280" y="306324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1901117" name="Text 9"/>
          <p:cNvSpPr/>
          <p:nvPr/>
        </p:nvSpPr>
        <p:spPr bwMode="auto">
          <a:xfrm>
            <a:off x="5715000" y="30998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2563EB"/>
                </a:solidFill>
              </a:rPr>
              <a:t>~5%</a:t>
            </a:r>
            <a:endParaRPr lang="en-US" sz="2200"/>
          </a:p>
        </p:txBody>
      </p:sp>
      <p:sp>
        <p:nvSpPr>
          <p:cNvPr id="2140778225" name="Text 10"/>
          <p:cNvSpPr/>
          <p:nvPr/>
        </p:nvSpPr>
        <p:spPr bwMode="auto">
          <a:xfrm>
            <a:off x="5715000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Staffing efficiency improvement from day-level forecasting</a:t>
            </a:r>
            <a:endParaRPr lang="en-US" sz="950"/>
          </a:p>
        </p:txBody>
      </p:sp>
      <p:sp>
        <p:nvSpPr>
          <p:cNvPr id="184564323" name="Shape 11"/>
          <p:cNvSpPr/>
          <p:nvPr/>
        </p:nvSpPr>
        <p:spPr bwMode="auto">
          <a:xfrm>
            <a:off x="5669280" y="40690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59726436" name="Text 12"/>
          <p:cNvSpPr/>
          <p:nvPr/>
        </p:nvSpPr>
        <p:spPr bwMode="auto">
          <a:xfrm>
            <a:off x="5715000" y="4105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2563EB"/>
                </a:solidFill>
              </a:rPr>
              <a:t>Faster</a:t>
            </a:r>
            <a:endParaRPr lang="en-US" sz="2200"/>
          </a:p>
        </p:txBody>
      </p:sp>
      <p:sp>
        <p:nvSpPr>
          <p:cNvPr id="1494263856" name="Text 13"/>
          <p:cNvSpPr/>
          <p:nvPr/>
        </p:nvSpPr>
        <p:spPr bwMode="auto">
          <a:xfrm>
            <a:off x="5715000" y="4526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Promotion ROI decisions with pre-campaign predicted uplift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844304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741835728" name="Text 1"/>
          <p:cNvSpPr/>
          <p:nvPr/>
        </p:nvSpPr>
        <p:spPr bwMode="auto"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Next Steps &amp; Roadmap</a:t>
            </a:r>
            <a:endParaRPr lang="en-US" sz="2800"/>
          </a:p>
        </p:txBody>
      </p:sp>
      <p:sp>
        <p:nvSpPr>
          <p:cNvPr id="1324264408" name="Shape 2"/>
          <p:cNvSpPr/>
          <p:nvPr/>
        </p:nvSpPr>
        <p:spPr bwMode="auto">
          <a:xfrm>
            <a:off x="320040" y="1005840"/>
            <a:ext cx="265176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24755279" name="Text 3"/>
          <p:cNvSpPr/>
          <p:nvPr/>
        </p:nvSpPr>
        <p:spPr bwMode="auto">
          <a:xfrm>
            <a:off x="32004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Phase 1  ·  Q2 2026</a:t>
            </a:r>
            <a:endParaRPr lang="en-US" sz="1100"/>
          </a:p>
        </p:txBody>
      </p:sp>
      <p:sp>
        <p:nvSpPr>
          <p:cNvPr id="331689504" name="Shape 4"/>
          <p:cNvSpPr/>
          <p:nvPr/>
        </p:nvSpPr>
        <p:spPr bwMode="auto">
          <a:xfrm>
            <a:off x="320040" y="15544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522536021" name="Text 5"/>
          <p:cNvSpPr/>
          <p:nvPr/>
        </p:nvSpPr>
        <p:spPr bwMode="auto">
          <a:xfrm>
            <a:off x="457200" y="16642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563EB"/>
                </a:solidFill>
              </a:rPr>
              <a:t>▸ </a:t>
            </a:r>
            <a:r>
              <a:rPr lang="en-US" sz="1000">
                <a:solidFill>
                  <a:srgbClr val="1E293B"/>
                </a:solidFill>
              </a:rPr>
              <a:t>Increase n_estimators to 100+ for accuracy gain</a:t>
            </a:r>
            <a:endParaRPr lang="en-US" sz="1000"/>
          </a:p>
        </p:txBody>
      </p:sp>
      <p:sp>
        <p:nvSpPr>
          <p:cNvPr id="2112934919" name="Text 6"/>
          <p:cNvSpPr/>
          <p:nvPr/>
        </p:nvSpPr>
        <p:spPr bwMode="auto">
          <a:xfrm>
            <a:off x="457200" y="24871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563EB"/>
                </a:solidFill>
              </a:rPr>
              <a:t>▸ </a:t>
            </a:r>
            <a:r>
              <a:rPr lang="en-US" sz="1000">
                <a:solidFill>
                  <a:srgbClr val="1E293B"/>
                </a:solidFill>
              </a:rPr>
              <a:t>Hyperparameter tuning via cross-validation</a:t>
            </a:r>
            <a:endParaRPr lang="en-US" sz="1000"/>
          </a:p>
        </p:txBody>
      </p:sp>
      <p:sp>
        <p:nvSpPr>
          <p:cNvPr id="1052007299" name="Text 7"/>
          <p:cNvSpPr/>
          <p:nvPr/>
        </p:nvSpPr>
        <p:spPr bwMode="auto">
          <a:xfrm>
            <a:off x="457200" y="3310127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563EB"/>
                </a:solidFill>
              </a:rPr>
              <a:t>▸ </a:t>
            </a:r>
            <a:r>
              <a:rPr lang="en-US" sz="1000">
                <a:solidFill>
                  <a:srgbClr val="1E293B"/>
                </a:solidFill>
              </a:rPr>
              <a:t>Add external features (weather, local events)</a:t>
            </a:r>
            <a:endParaRPr lang="en-US" sz="1000"/>
          </a:p>
        </p:txBody>
      </p:sp>
      <p:sp>
        <p:nvSpPr>
          <p:cNvPr id="239251860" name="Shape 8"/>
          <p:cNvSpPr/>
          <p:nvPr/>
        </p:nvSpPr>
        <p:spPr bwMode="auto">
          <a:xfrm>
            <a:off x="3246120" y="1005840"/>
            <a:ext cx="26517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63098540" name="Text 9"/>
          <p:cNvSpPr/>
          <p:nvPr/>
        </p:nvSpPr>
        <p:spPr bwMode="auto">
          <a:xfrm>
            <a:off x="324612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Phase 2  ·  Q3 2026</a:t>
            </a:r>
            <a:endParaRPr lang="en-US" sz="1100"/>
          </a:p>
        </p:txBody>
      </p:sp>
      <p:sp>
        <p:nvSpPr>
          <p:cNvPr id="2079829589" name="Shape 10"/>
          <p:cNvSpPr/>
          <p:nvPr/>
        </p:nvSpPr>
        <p:spPr bwMode="auto">
          <a:xfrm>
            <a:off x="3246120" y="15544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71410431" name="Text 11"/>
          <p:cNvSpPr/>
          <p:nvPr/>
        </p:nvSpPr>
        <p:spPr bwMode="auto">
          <a:xfrm>
            <a:off x="3383280" y="16642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</a:rPr>
              <a:t>▸ </a:t>
            </a:r>
            <a:r>
              <a:rPr lang="en-US" sz="1000">
                <a:solidFill>
                  <a:srgbClr val="1E293B"/>
                </a:solidFill>
              </a:rPr>
              <a:t>Build real-time inference pipeline with lag feature feed</a:t>
            </a:r>
            <a:endParaRPr lang="en-US" sz="1000"/>
          </a:p>
        </p:txBody>
      </p:sp>
      <p:sp>
        <p:nvSpPr>
          <p:cNvPr id="1726742221" name="Text 12"/>
          <p:cNvSpPr/>
          <p:nvPr/>
        </p:nvSpPr>
        <p:spPr bwMode="auto">
          <a:xfrm>
            <a:off x="3383280" y="24871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</a:rPr>
              <a:t>▸ </a:t>
            </a:r>
            <a:r>
              <a:rPr lang="en-US" sz="1000">
                <a:solidFill>
                  <a:srgbClr val="1E293B"/>
                </a:solidFill>
              </a:rPr>
              <a:t>Deploy REST API endpoint for store managers</a:t>
            </a:r>
            <a:endParaRPr lang="en-US" sz="1000"/>
          </a:p>
        </p:txBody>
      </p:sp>
      <p:sp>
        <p:nvSpPr>
          <p:cNvPr id="1667219571" name="Text 13"/>
          <p:cNvSpPr/>
          <p:nvPr/>
        </p:nvSpPr>
        <p:spPr bwMode="auto">
          <a:xfrm>
            <a:off x="3383280" y="3310127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</a:rPr>
              <a:t>▸ </a:t>
            </a:r>
            <a:r>
              <a:rPr lang="en-US" sz="1000">
                <a:solidFill>
                  <a:srgbClr val="1E293B"/>
                </a:solidFill>
              </a:rPr>
              <a:t>A/B test forecast accuracy vs. current heuristics</a:t>
            </a:r>
            <a:endParaRPr lang="en-US" sz="1000"/>
          </a:p>
        </p:txBody>
      </p:sp>
      <p:sp>
        <p:nvSpPr>
          <p:cNvPr id="264925473" name="Shape 14"/>
          <p:cNvSpPr/>
          <p:nvPr/>
        </p:nvSpPr>
        <p:spPr bwMode="auto">
          <a:xfrm>
            <a:off x="6172200" y="1005840"/>
            <a:ext cx="2651760" cy="5486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409384232" name="Text 15"/>
          <p:cNvSpPr/>
          <p:nvPr/>
        </p:nvSpPr>
        <p:spPr bwMode="auto">
          <a:xfrm>
            <a:off x="617220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Phase 3  ·  Q4 2026</a:t>
            </a:r>
            <a:endParaRPr lang="en-US" sz="1100"/>
          </a:p>
        </p:txBody>
      </p:sp>
      <p:sp>
        <p:nvSpPr>
          <p:cNvPr id="497369469" name="Shape 16"/>
          <p:cNvSpPr/>
          <p:nvPr/>
        </p:nvSpPr>
        <p:spPr bwMode="auto">
          <a:xfrm>
            <a:off x="6172200" y="15544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624311711" name="Text 17"/>
          <p:cNvSpPr/>
          <p:nvPr/>
        </p:nvSpPr>
        <p:spPr bwMode="auto">
          <a:xfrm>
            <a:off x="6309360" y="16642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E2D5F"/>
                </a:solidFill>
              </a:rPr>
              <a:t>▸ </a:t>
            </a:r>
            <a:r>
              <a:rPr lang="en-US" sz="1000">
                <a:solidFill>
                  <a:srgbClr val="1E293B"/>
                </a:solidFill>
              </a:rPr>
              <a:t>Explore XGBoost / LightGBM as challenger models</a:t>
            </a:r>
            <a:endParaRPr lang="en-US" sz="1000"/>
          </a:p>
        </p:txBody>
      </p:sp>
      <p:sp>
        <p:nvSpPr>
          <p:cNvPr id="1146122637" name="Text 18"/>
          <p:cNvSpPr/>
          <p:nvPr/>
        </p:nvSpPr>
        <p:spPr bwMode="auto">
          <a:xfrm>
            <a:off x="6309360" y="24871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E2D5F"/>
                </a:solidFill>
              </a:rPr>
              <a:t>▸ </a:t>
            </a:r>
            <a:r>
              <a:rPr lang="en-US" sz="1000">
                <a:solidFill>
                  <a:srgbClr val="1E293B"/>
                </a:solidFill>
              </a:rPr>
              <a:t>Per-store model personalisation for outlier stores</a:t>
            </a:r>
            <a:endParaRPr lang="en-US" sz="1000"/>
          </a:p>
        </p:txBody>
      </p:sp>
      <p:sp>
        <p:nvSpPr>
          <p:cNvPr id="1164124935" name="Text 19"/>
          <p:cNvSpPr/>
          <p:nvPr/>
        </p:nvSpPr>
        <p:spPr bwMode="auto">
          <a:xfrm>
            <a:off x="6309360" y="3310127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E2D5F"/>
                </a:solidFill>
              </a:rPr>
              <a:t>▸ </a:t>
            </a:r>
            <a:r>
              <a:rPr lang="en-US" sz="1000">
                <a:solidFill>
                  <a:srgbClr val="1E293B"/>
                </a:solidFill>
              </a:rPr>
              <a:t>Integrate into Rossmann ERP for automated ordering</a:t>
            </a:r>
            <a:endParaRPr lang="en-US" sz="1000"/>
          </a:p>
        </p:txBody>
      </p:sp>
      <p:sp>
        <p:nvSpPr>
          <p:cNvPr id="1996916933" name="Shape 20"/>
          <p:cNvSpPr/>
          <p:nvPr/>
        </p:nvSpPr>
        <p:spPr bwMode="auto">
          <a:xfrm>
            <a:off x="320040" y="4315968"/>
            <a:ext cx="8503920" cy="621792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2656792" name="Text 21"/>
          <p:cNvSpPr/>
          <p:nvPr/>
        </p:nvSpPr>
        <p:spPr bwMode="auto">
          <a:xfrm>
            <a:off x="502920" y="43799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15803D"/>
                </a:solidFill>
              </a:rPr>
              <a:t>💡  Projected improvement with Phase 1 alone: MAE → ~720 (17% reduction), R² → 0.87+ based on published benchmarks for similar Rossmann datasets.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1E2D5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04781" name="Shape 0"/>
          <p:cNvSpPr/>
          <p:nvPr/>
        </p:nvSpPr>
        <p:spPr bwMode="auto">
          <a:xfrm>
            <a:off x="548640" y="137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99341461" name="Shape 1"/>
          <p:cNvSpPr/>
          <p:nvPr/>
        </p:nvSpPr>
        <p:spPr bwMode="auto">
          <a:xfrm>
            <a:off x="548640" y="10972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6608442" name="Shape 2"/>
          <p:cNvSpPr/>
          <p:nvPr/>
        </p:nvSpPr>
        <p:spPr bwMode="auto">
          <a:xfrm>
            <a:off x="548640" y="20574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12709656" name="Shape 3"/>
          <p:cNvSpPr/>
          <p:nvPr/>
        </p:nvSpPr>
        <p:spPr bwMode="auto">
          <a:xfrm>
            <a:off x="548640" y="3017519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52106572" name="Shape 4"/>
          <p:cNvSpPr/>
          <p:nvPr/>
        </p:nvSpPr>
        <p:spPr bwMode="auto">
          <a:xfrm>
            <a:off x="548640" y="39776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30887261" name="Shape 5"/>
          <p:cNvSpPr/>
          <p:nvPr/>
        </p:nvSpPr>
        <p:spPr bwMode="auto">
          <a:xfrm>
            <a:off x="1600200" y="137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28849034" name="Shape 6"/>
          <p:cNvSpPr/>
          <p:nvPr/>
        </p:nvSpPr>
        <p:spPr bwMode="auto">
          <a:xfrm>
            <a:off x="1600200" y="10972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04521744" name="Shape 7"/>
          <p:cNvSpPr/>
          <p:nvPr/>
        </p:nvSpPr>
        <p:spPr bwMode="auto">
          <a:xfrm>
            <a:off x="1600200" y="20574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85453761" name="Shape 8"/>
          <p:cNvSpPr/>
          <p:nvPr/>
        </p:nvSpPr>
        <p:spPr bwMode="auto">
          <a:xfrm>
            <a:off x="1600200" y="3017519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79140468" name="Shape 9"/>
          <p:cNvSpPr/>
          <p:nvPr/>
        </p:nvSpPr>
        <p:spPr bwMode="auto">
          <a:xfrm>
            <a:off x="1600200" y="39776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62351130" name="Shape 10"/>
          <p:cNvSpPr/>
          <p:nvPr/>
        </p:nvSpPr>
        <p:spPr bwMode="auto">
          <a:xfrm>
            <a:off x="2651760" y="137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34885520" name="Shape 11"/>
          <p:cNvSpPr/>
          <p:nvPr/>
        </p:nvSpPr>
        <p:spPr bwMode="auto">
          <a:xfrm>
            <a:off x="2651760" y="10972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54160797" name="Shape 12"/>
          <p:cNvSpPr/>
          <p:nvPr/>
        </p:nvSpPr>
        <p:spPr bwMode="auto">
          <a:xfrm>
            <a:off x="2651760" y="20574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81550382" name="Shape 13"/>
          <p:cNvSpPr/>
          <p:nvPr/>
        </p:nvSpPr>
        <p:spPr bwMode="auto">
          <a:xfrm>
            <a:off x="2651760" y="3017519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75498082" name="Shape 14"/>
          <p:cNvSpPr/>
          <p:nvPr/>
        </p:nvSpPr>
        <p:spPr bwMode="auto">
          <a:xfrm>
            <a:off x="2651760" y="39776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00977197" name="Shape 15"/>
          <p:cNvSpPr/>
          <p:nvPr/>
        </p:nvSpPr>
        <p:spPr bwMode="auto">
          <a:xfrm>
            <a:off x="3703320" y="137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08737318" name="Shape 16"/>
          <p:cNvSpPr/>
          <p:nvPr/>
        </p:nvSpPr>
        <p:spPr bwMode="auto">
          <a:xfrm>
            <a:off x="3703320" y="10972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59556848" name="Shape 17"/>
          <p:cNvSpPr/>
          <p:nvPr/>
        </p:nvSpPr>
        <p:spPr bwMode="auto">
          <a:xfrm>
            <a:off x="3703320" y="20574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22186043" name="Shape 18"/>
          <p:cNvSpPr/>
          <p:nvPr/>
        </p:nvSpPr>
        <p:spPr bwMode="auto">
          <a:xfrm>
            <a:off x="3703320" y="3017519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49127351" name="Shape 19"/>
          <p:cNvSpPr/>
          <p:nvPr/>
        </p:nvSpPr>
        <p:spPr bwMode="auto">
          <a:xfrm>
            <a:off x="3703320" y="39776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4833039" name="Shape 20"/>
          <p:cNvSpPr/>
          <p:nvPr/>
        </p:nvSpPr>
        <p:spPr bwMode="auto">
          <a:xfrm>
            <a:off x="4754880" y="137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35516101" name="Shape 21"/>
          <p:cNvSpPr/>
          <p:nvPr/>
        </p:nvSpPr>
        <p:spPr bwMode="auto">
          <a:xfrm>
            <a:off x="4754880" y="10972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14930214" name="Shape 22"/>
          <p:cNvSpPr/>
          <p:nvPr/>
        </p:nvSpPr>
        <p:spPr bwMode="auto">
          <a:xfrm>
            <a:off x="4754880" y="20574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62180373" name="Shape 23"/>
          <p:cNvSpPr/>
          <p:nvPr/>
        </p:nvSpPr>
        <p:spPr bwMode="auto">
          <a:xfrm>
            <a:off x="4754880" y="3017519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02440786" name="Shape 24"/>
          <p:cNvSpPr/>
          <p:nvPr/>
        </p:nvSpPr>
        <p:spPr bwMode="auto">
          <a:xfrm>
            <a:off x="4754880" y="39776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52890067" name="Shape 25"/>
          <p:cNvSpPr/>
          <p:nvPr/>
        </p:nvSpPr>
        <p:spPr bwMode="auto">
          <a:xfrm>
            <a:off x="5806440" y="137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3300929" name="Shape 26"/>
          <p:cNvSpPr/>
          <p:nvPr/>
        </p:nvSpPr>
        <p:spPr bwMode="auto">
          <a:xfrm>
            <a:off x="5806440" y="10972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90477197" name="Shape 27"/>
          <p:cNvSpPr/>
          <p:nvPr/>
        </p:nvSpPr>
        <p:spPr bwMode="auto">
          <a:xfrm>
            <a:off x="5806440" y="20574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46334601" name="Shape 28"/>
          <p:cNvSpPr/>
          <p:nvPr/>
        </p:nvSpPr>
        <p:spPr bwMode="auto">
          <a:xfrm>
            <a:off x="5806440" y="3017519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14373451" name="Shape 29"/>
          <p:cNvSpPr/>
          <p:nvPr/>
        </p:nvSpPr>
        <p:spPr bwMode="auto">
          <a:xfrm>
            <a:off x="5806440" y="39776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71785461" name="Shape 30"/>
          <p:cNvSpPr/>
          <p:nvPr/>
        </p:nvSpPr>
        <p:spPr bwMode="auto">
          <a:xfrm>
            <a:off x="6858000" y="137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3026996" name="Shape 31"/>
          <p:cNvSpPr/>
          <p:nvPr/>
        </p:nvSpPr>
        <p:spPr bwMode="auto">
          <a:xfrm>
            <a:off x="6858000" y="10972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32607429" name="Shape 32"/>
          <p:cNvSpPr/>
          <p:nvPr/>
        </p:nvSpPr>
        <p:spPr bwMode="auto">
          <a:xfrm>
            <a:off x="6858000" y="20574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1359163" name="Shape 33"/>
          <p:cNvSpPr/>
          <p:nvPr/>
        </p:nvSpPr>
        <p:spPr bwMode="auto">
          <a:xfrm>
            <a:off x="6858000" y="3017519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7286902" name="Shape 34"/>
          <p:cNvSpPr/>
          <p:nvPr/>
        </p:nvSpPr>
        <p:spPr bwMode="auto">
          <a:xfrm>
            <a:off x="6858000" y="39776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60495669" name="Shape 35"/>
          <p:cNvSpPr/>
          <p:nvPr/>
        </p:nvSpPr>
        <p:spPr bwMode="auto">
          <a:xfrm>
            <a:off x="7909560" y="137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37988483" name="Shape 36"/>
          <p:cNvSpPr/>
          <p:nvPr/>
        </p:nvSpPr>
        <p:spPr bwMode="auto">
          <a:xfrm>
            <a:off x="7909560" y="10972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30464378" name="Shape 37"/>
          <p:cNvSpPr/>
          <p:nvPr/>
        </p:nvSpPr>
        <p:spPr bwMode="auto">
          <a:xfrm>
            <a:off x="7909560" y="20574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45595792" name="Shape 38"/>
          <p:cNvSpPr/>
          <p:nvPr/>
        </p:nvSpPr>
        <p:spPr bwMode="auto">
          <a:xfrm>
            <a:off x="7909560" y="3017519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16555841" name="Shape 39"/>
          <p:cNvSpPr/>
          <p:nvPr/>
        </p:nvSpPr>
        <p:spPr bwMode="auto">
          <a:xfrm>
            <a:off x="7909560" y="39776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76407413" name="Shape 40"/>
          <p:cNvSpPr/>
          <p:nvPr/>
        </p:nvSpPr>
        <p:spPr bwMode="auto"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87356783" name="Text 41"/>
          <p:cNvSpPr/>
          <p:nvPr/>
        </p:nvSpPr>
        <p:spPr bwMode="auto"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 spc="400">
                <a:solidFill>
                  <a:srgbClr val="93C5FD"/>
                </a:solidFill>
              </a:rPr>
              <a:t>Summary</a:t>
            </a:r>
            <a:endParaRPr lang="en-US" sz="1400"/>
          </a:p>
        </p:txBody>
      </p:sp>
      <p:sp>
        <p:nvSpPr>
          <p:cNvPr id="1838735574" name="Text 42"/>
          <p:cNvSpPr/>
          <p:nvPr/>
        </p:nvSpPr>
        <p:spPr bwMode="auto">
          <a:xfrm>
            <a:off x="457200" y="1600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Ready for</a:t>
            </a:r>
            <a:endParaRPr lang="en-US" sz="4000"/>
          </a:p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Pilot Deployment</a:t>
            </a:r>
            <a:endParaRPr lang="en-US" sz="4000"/>
          </a:p>
        </p:txBody>
      </p:sp>
      <p:sp>
        <p:nvSpPr>
          <p:cNvPr id="864978049" name="Text 43"/>
          <p:cNvSpPr/>
          <p:nvPr/>
        </p:nvSpPr>
        <p:spPr bwMode="auto">
          <a:xfrm>
            <a:off x="457200" y="3108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7F3D0"/>
                </a:solidFill>
              </a:rPr>
              <a:t>✅   MAE €866 and R² 0.83 meet the business threshold for actionable forecasting</a:t>
            </a:r>
            <a:endParaRPr lang="en-US" sz="1200"/>
          </a:p>
        </p:txBody>
      </p:sp>
      <p:sp>
        <p:nvSpPr>
          <p:cNvPr id="770865750" name="Text 44"/>
          <p:cNvSpPr/>
          <p:nvPr/>
        </p:nvSpPr>
        <p:spPr bwMode="auto">
          <a:xfrm>
            <a:off x="457200" y="35295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7F3D0"/>
                </a:solidFill>
              </a:rPr>
              <a:t>✅   Time-based validation ensures no data leakage — metrics are production-realistic</a:t>
            </a:r>
            <a:endParaRPr lang="en-US" sz="1200"/>
          </a:p>
        </p:txBody>
      </p:sp>
      <p:sp>
        <p:nvSpPr>
          <p:cNvPr id="1133995170" name="Text 45"/>
          <p:cNvSpPr/>
          <p:nvPr/>
        </p:nvSpPr>
        <p:spPr bwMode="auto">
          <a:xfrm>
            <a:off x="457200" y="39502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7F3D0"/>
                </a:solidFill>
              </a:rPr>
              <a:t>✅   Lag features capture store-level momentum — key signal for weekly planning</a:t>
            </a:r>
            <a:endParaRPr lang="en-US" sz="1200"/>
          </a:p>
        </p:txBody>
      </p:sp>
      <p:sp>
        <p:nvSpPr>
          <p:cNvPr id="54251098" name="Text 46"/>
          <p:cNvSpPr/>
          <p:nvPr/>
        </p:nvSpPr>
        <p:spPr bwMode="auto">
          <a:xfrm>
            <a:off x="457200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59E0B"/>
                </a:solidFill>
              </a:rPr>
              <a:t>⏭   Next step: scale estimators, enrich features, and deploy inference pipeline</a:t>
            </a:r>
            <a:endParaRPr lang="en-US" sz="1200"/>
          </a:p>
        </p:txBody>
      </p:sp>
      <p:sp>
        <p:nvSpPr>
          <p:cNvPr id="5974310" name="Shape 47"/>
          <p:cNvSpPr/>
          <p:nvPr/>
        </p:nvSpPr>
        <p:spPr bwMode="auto">
          <a:xfrm>
            <a:off x="0" y="4754880"/>
            <a:ext cx="9144000" cy="38404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60000"/>
              </a:srgbClr>
            </a:solidFill>
            <a:prstDash val="solid"/>
          </a:ln>
        </p:spPr>
      </p:sp>
      <p:sp>
        <p:nvSpPr>
          <p:cNvPr id="1081774641" name="Text 48"/>
          <p:cNvSpPr/>
          <p:nvPr/>
        </p:nvSpPr>
        <p:spPr bwMode="auto"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ADCFC"/>
                </a:solidFill>
              </a:rPr>
              <a:t>Lovish Haider  ·  Rossmann Forecasting Initiative  ·  March 2026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Rossmann Sales Forecasting – Model Results</dc:title>
  <dc:subject>PptxGenJS Presentation</dc:subject>
  <dc:creator>PptxGenJS</dc:creator>
  <cp:lastModifiedBy/>
  <cp:revision>3</cp:revision>
  <dcterms:created xsi:type="dcterms:W3CDTF">2026-03-22T16:08:15Z</dcterms:created>
  <dcterms:modified xsi:type="dcterms:W3CDTF">2026-03-22T16:18:52Z</dcterms:modified>
</cp:coreProperties>
</file>